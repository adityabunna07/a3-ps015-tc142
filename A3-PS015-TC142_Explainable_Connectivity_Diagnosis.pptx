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Hackathon Submission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3174" y="2286635"/>
            <a:ext cx="108813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00087"/>
                </a:solidFill>
                <a:latin typeface="Aptos"/>
              </a:rPr>
              <a:t>Explainable Home &amp;
Last-Mile Connectivity Diagnosis</a:t>
            </a:r>
            <a:endParaRPr sz="29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793" y="3521075"/>
            <a:ext cx="90525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Aptos"/>
              </a:rPr>
              <a:t>An AI-powered system that identifies likely connectivity causes
and gives users clear, actionable next steps.</a:t>
            </a:r>
            <a:endParaRPr sz="18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4205" y="1104265"/>
            <a:ext cx="6852285" cy="830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chemeClr val="accent1">
                    <a:lumMod val="50000"/>
                  </a:schemeClr>
                </a:solidFill>
                <a:latin typeface="Aptos"/>
              </a:rPr>
              <a:t>A3-PS015-TC142</a:t>
            </a:r>
            <a:endParaRPr sz="5400" b="1">
              <a:solidFill>
                <a:schemeClr val="accent1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793" y="4922139"/>
            <a:ext cx="393192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0">
                <a:solidFill>
                  <a:srgbClr val="141414"/>
                </a:solidFill>
                <a:latin typeface="Aptos"/>
              </a:rPr>
              <a:t>-&gt;</a:t>
            </a:r>
            <a:r>
              <a:rPr sz="1500" b="1">
                <a:solidFill>
                  <a:srgbClr val="141414"/>
                </a:solidFill>
                <a:latin typeface="Aptos"/>
              </a:rPr>
              <a:t>Varshini SD</a:t>
            </a:r>
            <a:r>
              <a:rPr sz="1500" b="0">
                <a:solidFill>
                  <a:srgbClr val="141414"/>
                </a:solidFill>
                <a:latin typeface="Aptos"/>
              </a:rPr>
              <a:t> </a:t>
            </a:r>
            <a:r>
              <a:rPr lang="en-US" sz="1500" b="0">
                <a:solidFill>
                  <a:srgbClr val="141414"/>
                </a:solidFill>
                <a:latin typeface="Aptos"/>
              </a:rPr>
              <a:t> (varshinisd.ai25@bmsce.ac.in)</a:t>
            </a:r>
            <a:r>
              <a:rPr sz="1500" b="0">
                <a:solidFill>
                  <a:srgbClr val="141414"/>
                </a:solidFill>
                <a:latin typeface="Aptos"/>
              </a:rPr>
              <a:t>  </a:t>
            </a:r>
            <a:endParaRPr sz="1500" b="0">
              <a:solidFill>
                <a:srgbClr val="141414"/>
              </a:solidFill>
              <a:latin typeface="Aptos"/>
            </a:endParaRPr>
          </a:p>
          <a:p>
            <a:pPr algn="l"/>
            <a:r>
              <a:rPr lang="en-US" sz="1500" b="0">
                <a:solidFill>
                  <a:srgbClr val="141414"/>
                </a:solidFill>
                <a:latin typeface="Aptos"/>
              </a:rPr>
              <a:t>-&gt;</a:t>
            </a:r>
            <a:r>
              <a:rPr sz="1500" b="1">
                <a:solidFill>
                  <a:srgbClr val="141414"/>
                </a:solidFill>
                <a:latin typeface="Aptos"/>
              </a:rPr>
              <a:t>Aditya</a:t>
            </a:r>
            <a:r>
              <a:rPr lang="en-US" sz="1500" b="1">
                <a:solidFill>
                  <a:srgbClr val="141414"/>
                </a:solidFill>
                <a:latin typeface="Aptos"/>
              </a:rPr>
              <a:t>  </a:t>
            </a:r>
            <a:r>
              <a:rPr lang="en-US" sz="1500" b="1">
                <a:solidFill>
                  <a:srgbClr val="141414"/>
                </a:solidFill>
                <a:latin typeface="Aptos"/>
                <a:sym typeface="+mn-ea"/>
              </a:rPr>
              <a:t> </a:t>
            </a:r>
            <a:r>
              <a:rPr lang="en-US" sz="1500">
                <a:solidFill>
                  <a:srgbClr val="141414"/>
                </a:solidFill>
                <a:latin typeface="Aptos"/>
                <a:sym typeface="+mn-ea"/>
              </a:rPr>
              <a:t>(aditya.ai25@bmsce.ac.in)</a:t>
            </a:r>
            <a:endParaRPr lang="en-US" sz="15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5383530"/>
            <a:ext cx="685165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Faculty Mentor: </a:t>
            </a:r>
            <a:r>
              <a:rPr sz="1400" b="1">
                <a:solidFill>
                  <a:srgbClr val="141414"/>
                </a:solidFill>
                <a:latin typeface="Aptos"/>
              </a:rPr>
              <a:t>Dr. Monika Puttaramaiah</a:t>
            </a:r>
            <a:r>
              <a:rPr lang="en-US" sz="1400" b="0">
                <a:solidFill>
                  <a:srgbClr val="141414"/>
                </a:solidFill>
                <a:latin typeface="Aptos"/>
              </a:rPr>
              <a:t> (</a:t>
            </a:r>
            <a:r>
              <a:rPr lang="en-US" altLang="en-US" sz="1400" b="0">
                <a:solidFill>
                  <a:srgbClr val="141414"/>
                </a:solidFill>
                <a:latin typeface="Aptos"/>
              </a:rPr>
              <a:t>monika.mel@bmsce.ac.in)</a:t>
            </a:r>
            <a:endParaRPr lang="en-US" altLang="en-US" sz="14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793" y="6074664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AIORI Hackathon 3  •  October 14, 2026</a:t>
            </a:r>
            <a:endParaRPr sz="1400" b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Abstract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Problem Description</a:t>
            </a:r>
            <a:endParaRPr sz="23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70408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Varshini SD &amp; Aditya  •  A3-PS015-TC142  •  October 14, 2026</a:t>
            </a:r>
            <a:endParaRPr sz="7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2 / 11</a:t>
            </a:r>
            <a:endParaRPr sz="700" b="0">
              <a:solidFill>
                <a:srgbClr val="0000D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Users can see that their connection is poor — but rarely why.</a:t>
            </a:r>
            <a:endParaRPr sz="160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956816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000D2"/>
                </a:solidFill>
                <a:latin typeface="Aptos"/>
              </a:rPr>
              <a:t>•</a:t>
            </a:r>
            <a:endParaRPr sz="15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1956816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0">
                <a:solidFill>
                  <a:srgbClr val="141414"/>
                </a:solidFill>
                <a:latin typeface="Aptos"/>
              </a:rPr>
              <a:t>Slow speeds, buffering, high latency, packet loss, and dropouts disrupt work, learning, calls, and gaming.</a:t>
            </a:r>
            <a:endParaRPr sz="152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000D2"/>
                </a:solidFill>
                <a:latin typeface="Aptos"/>
              </a:rPr>
              <a:t>•</a:t>
            </a:r>
            <a:endParaRPr sz="15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251460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0">
                <a:solidFill>
                  <a:srgbClr val="141414"/>
                </a:solidFill>
                <a:latin typeface="Aptos"/>
              </a:rPr>
              <a:t>The root cause can be Wi‑Fi signal weakness, interference, congestion, router faults, or an ISP/last-mile issue.</a:t>
            </a:r>
            <a:endParaRPr sz="152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000D2"/>
                </a:solidFill>
                <a:latin typeface="Aptos"/>
              </a:rPr>
              <a:t>•</a:t>
            </a:r>
            <a:endParaRPr sz="15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3072384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0">
                <a:solidFill>
                  <a:srgbClr val="141414"/>
                </a:solidFill>
                <a:latin typeface="Aptos"/>
              </a:rPr>
              <a:t>Conventional speed tests report metrics but do not explain the probable cause or what the user should do next.</a:t>
            </a:r>
            <a:endParaRPr sz="152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363016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000D2"/>
                </a:solidFill>
                <a:latin typeface="Aptos"/>
              </a:rPr>
              <a:t>•</a:t>
            </a:r>
            <a:endParaRPr sz="15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630168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0">
                <a:solidFill>
                  <a:srgbClr val="141414"/>
                </a:solidFill>
                <a:latin typeface="Aptos"/>
              </a:rPr>
              <a:t>This leads to blind restarts, unnecessary setting changes, and avoidable ISP support calls.</a:t>
            </a:r>
            <a:endParaRPr sz="1520" b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Background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Background</a:t>
            </a:r>
            <a:endParaRPr sz="23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70408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Varshini SD &amp; Aditya  •  A3-PS015-TC142  •  October 14, 2026</a:t>
            </a:r>
            <a:endParaRPr sz="7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3 / 11</a:t>
            </a:r>
            <a:endParaRPr sz="700" b="0">
              <a:solidFill>
                <a:srgbClr val="0000D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Home connectivity is a multi-layer experience.</a:t>
            </a:r>
            <a:endParaRPr sz="160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1691640" cy="621792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156362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Device &amp; Wi‑Fi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54680" y="2240280"/>
            <a:ext cx="1691640" cy="621792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2313432"/>
            <a:ext cx="156362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Home Router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23560" y="2240280"/>
            <a:ext cx="1691640" cy="621792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2313432"/>
            <a:ext cx="156362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ISP Last Mile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92440" y="2240280"/>
            <a:ext cx="1691640" cy="621792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2313432"/>
            <a:ext cx="156362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Internet Service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2551176"/>
            <a:ext cx="73152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46320" y="2551176"/>
            <a:ext cx="73152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2551176"/>
            <a:ext cx="73152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38328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D2"/>
                </a:solidFill>
                <a:latin typeface="Aptos"/>
              </a:rPr>
              <a:t>•</a:t>
            </a:r>
            <a:endParaRPr sz="15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338328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The same symptom can originate at different layers, so a single speed value is not enough for diagnosis.</a:t>
            </a:r>
            <a:endParaRPr sz="15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3913632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D2"/>
                </a:solidFill>
                <a:latin typeface="Aptos"/>
              </a:rPr>
              <a:t>•</a:t>
            </a:r>
            <a:endParaRPr sz="15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59" y="3913632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Useful observations include latency, jitter, packet loss, download/upload throughput, Wi‑Fi signal, and time patterns.</a:t>
            </a:r>
            <a:endParaRPr sz="15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444398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00D2"/>
                </a:solidFill>
                <a:latin typeface="Aptos"/>
              </a:rPr>
              <a:t>•</a:t>
            </a:r>
            <a:endParaRPr sz="15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4443984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Aptos"/>
              </a:rPr>
              <a:t>A helpful tool must translate measurements into confidence-aware, human-readable guidance.</a:t>
            </a:r>
            <a:endParaRPr sz="1500" b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Literature &amp; RFC Review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Literature &amp; Standards Review</a:t>
            </a:r>
            <a:endParaRPr sz="23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70408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Varshini SD &amp; Aditya  •  A3-PS015-TC142  •  October 14, 2026</a:t>
            </a:r>
            <a:endParaRPr sz="7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4 / 11</a:t>
            </a:r>
            <a:endParaRPr sz="700" b="0">
              <a:solidFill>
                <a:srgbClr val="0000D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What existing measurement practice gives us — and what it misses.</a:t>
            </a:r>
            <a:endParaRPr sz="160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24028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20939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Source / Practice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333756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57400"/>
            <a:ext cx="31912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Contribution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0" y="1965960"/>
            <a:ext cx="521208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057400"/>
            <a:ext cx="50657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Gap / Opportunity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368296"/>
            <a:ext cx="224028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459736"/>
            <a:ext cx="209397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Speed tests</a:t>
            </a:r>
            <a:endParaRPr sz="113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926080" y="2368296"/>
            <a:ext cx="333756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2459736"/>
            <a:ext cx="31912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Download/upload throughput; ping</a:t>
            </a:r>
            <a:endParaRPr sz="113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0" y="2368296"/>
            <a:ext cx="521208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459736"/>
            <a:ext cx="506577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Usually no root-cause explanation</a:t>
            </a:r>
            <a:endParaRPr sz="113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2971800"/>
            <a:ext cx="2240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063240"/>
            <a:ext cx="209397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RFC 6349</a:t>
            </a:r>
            <a:endParaRPr sz="113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26080" y="2971800"/>
            <a:ext cx="3337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3063240"/>
            <a:ext cx="31912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TCP throughput testing framework</a:t>
            </a:r>
            <a:endParaRPr sz="113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00800" y="2971800"/>
            <a:ext cx="5212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063240"/>
            <a:ext cx="506577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Metrics need interpretation for home users</a:t>
            </a:r>
            <a:endParaRPr sz="113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575304"/>
            <a:ext cx="224028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666744"/>
            <a:ext cx="209397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RFC 2681</a:t>
            </a:r>
            <a:endParaRPr sz="113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926080" y="3575304"/>
            <a:ext cx="333756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9232" y="3666744"/>
            <a:ext cx="31912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One-way delay measurement concepts</a:t>
            </a:r>
            <a:endParaRPr sz="113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00800" y="3575304"/>
            <a:ext cx="5212080" cy="594360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3666744"/>
            <a:ext cx="506577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41414"/>
                </a:solidFill>
                <a:latin typeface="Aptos"/>
              </a:rPr>
              <a:t>Delay alone does not isolate the failing layer</a:t>
            </a:r>
            <a:endParaRPr sz="113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178808"/>
            <a:ext cx="2240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270248"/>
            <a:ext cx="209397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>
                <a:solidFill>
                  <a:srgbClr val="141414"/>
                </a:solidFill>
                <a:latin typeface="Aptos"/>
              </a:rPr>
              <a:t>Our approach</a:t>
            </a:r>
            <a:endParaRPr sz="113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926080" y="4178808"/>
            <a:ext cx="3337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9232" y="4270248"/>
            <a:ext cx="31912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>
                <a:solidFill>
                  <a:srgbClr val="141414"/>
                </a:solidFill>
                <a:latin typeface="Aptos"/>
              </a:rPr>
              <a:t>Multi-metric diagnosis + explanations</a:t>
            </a:r>
            <a:endParaRPr sz="113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00800" y="4178808"/>
            <a:ext cx="52120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4270248"/>
            <a:ext cx="506577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1">
                <a:solidFill>
                  <a:srgbClr val="141414"/>
                </a:solidFill>
                <a:latin typeface="Aptos"/>
              </a:rPr>
              <a:t>Actionable, personalized troubleshooting</a:t>
            </a:r>
            <a:endParaRPr sz="1130" b="1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Proposed Solution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Proposed Solution</a:t>
            </a:r>
            <a:endParaRPr sz="23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70408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Varshini SD &amp; Aditya  •  A3-PS015-TC142  •  October 14, 2026</a:t>
            </a:r>
            <a:endParaRPr sz="7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5 / 11</a:t>
            </a:r>
            <a:endParaRPr sz="700" b="0">
              <a:solidFill>
                <a:srgbClr val="0000D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An explainable diagnosis engine turns raw network tests into practical advice.</a:t>
            </a:r>
            <a:endParaRPr sz="160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2648" y="2103120"/>
            <a:ext cx="2011680" cy="530352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176272"/>
            <a:ext cx="1883664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00087"/>
                </a:solidFill>
                <a:latin typeface="Aptos"/>
              </a:rPr>
              <a:t>1. Measure</a:t>
            </a:r>
            <a:endParaRPr sz="13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18653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Aptos"/>
              </a:rPr>
              <a:t>Latency • jitter • loss
throughput • Wi‑Fi signal</a:t>
            </a:r>
            <a:endParaRPr sz="1200" b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2368296"/>
            <a:ext cx="621792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65576" y="2103120"/>
            <a:ext cx="2011680" cy="530352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176272"/>
            <a:ext cx="1883664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00087"/>
                </a:solidFill>
                <a:latin typeface="Aptos"/>
              </a:rPr>
              <a:t>2. Analyze</a:t>
            </a:r>
            <a:endParaRPr sz="13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38728" y="2761488"/>
            <a:ext cx="18653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Aptos"/>
              </a:rPr>
              <a:t>Rules + ML classify
likely bottleneck</a:t>
            </a:r>
            <a:endParaRPr sz="1200" b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522976" y="2368296"/>
            <a:ext cx="621792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18504" y="2103120"/>
            <a:ext cx="2011680" cy="530352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176272"/>
            <a:ext cx="1883664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00087"/>
                </a:solidFill>
                <a:latin typeface="Aptos"/>
              </a:rPr>
              <a:t>3. Explain</a:t>
            </a:r>
            <a:endParaRPr sz="13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91656" y="2761488"/>
            <a:ext cx="18653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Aptos"/>
              </a:rPr>
              <a:t>Show evidence and
confidence</a:t>
            </a:r>
            <a:endParaRPr sz="1200" b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375904" y="2368296"/>
            <a:ext cx="621792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71432" y="2103120"/>
            <a:ext cx="2011680" cy="530352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176272"/>
            <a:ext cx="1883664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00087"/>
                </a:solidFill>
                <a:latin typeface="Aptos"/>
              </a:rPr>
              <a:t>4. Act</a:t>
            </a:r>
            <a:endParaRPr sz="13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44584" y="2761488"/>
            <a:ext cx="18653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Aptos"/>
              </a:rPr>
              <a:t>Give safe, prioritized
recommendations</a:t>
            </a:r>
            <a:endParaRPr sz="12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000D2"/>
                </a:solidFill>
                <a:latin typeface="Aptos"/>
              </a:rPr>
              <a:t>•</a:t>
            </a:r>
            <a:endParaRPr sz="145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406908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41414"/>
                </a:solidFill>
                <a:latin typeface="Aptos"/>
              </a:rPr>
              <a:t>Example: weak signal plus normal wired performance → “Move closer to the router or use 5 GHz.”</a:t>
            </a:r>
            <a:endParaRPr sz="145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470916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0000D2"/>
                </a:solidFill>
                <a:latin typeface="Aptos"/>
              </a:rPr>
              <a:t>•</a:t>
            </a:r>
            <a:endParaRPr sz="145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59" y="4709160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141414"/>
                </a:solidFill>
                <a:latin typeface="Aptos"/>
              </a:rPr>
              <a:t>Example: healthy local link but persistent external loss/latency → “Collect evidence and investigate ISP-side issues.”</a:t>
            </a:r>
            <a:endParaRPr sz="1450" b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Solution Optimization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Optimization Proposed</a:t>
            </a:r>
            <a:endParaRPr sz="23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70408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Varshini SD &amp; Aditya  •  A3-PS015-TC142  •  October 14, 2026</a:t>
            </a:r>
            <a:endParaRPr sz="7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6 / 11</a:t>
            </a:r>
            <a:endParaRPr sz="700" b="0">
              <a:solidFill>
                <a:srgbClr val="0000D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From raw metrics to a diagnosis users can trust.</a:t>
            </a:r>
            <a:endParaRPr sz="160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38528"/>
            <a:ext cx="251460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39112"/>
            <a:ext cx="23682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Before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36392" y="1938528"/>
            <a:ext cx="3035808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2039112"/>
            <a:ext cx="2889503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Enhancement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1938528"/>
            <a:ext cx="283464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039112"/>
            <a:ext cx="268833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After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162288" y="1938528"/>
            <a:ext cx="2468880" cy="393192"/>
          </a:xfrm>
          <a:prstGeom prst="rect">
            <a:avLst/>
          </a:prstGeom>
          <a:solidFill>
            <a:srgbClr val="0000D2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039112"/>
            <a:ext cx="232257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User value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340864"/>
            <a:ext cx="2514600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441448"/>
            <a:ext cx="23682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Single snapshot</a:t>
            </a:r>
            <a:endParaRPr sz="107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136392" y="2340864"/>
            <a:ext cx="3035808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9544" y="2441448"/>
            <a:ext cx="288950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Repeated tests over time</a:t>
            </a:r>
            <a:endParaRPr sz="107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3640" y="2340864"/>
            <a:ext cx="2834640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2441448"/>
            <a:ext cx="2688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Separates transient congestion from persistent faults</a:t>
            </a:r>
            <a:endParaRPr sz="107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980944"/>
            <a:ext cx="25146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81527"/>
            <a:ext cx="23682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One aggregate score</a:t>
            </a:r>
            <a:endParaRPr sz="107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36392" y="2980944"/>
            <a:ext cx="3035808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9544" y="3081527"/>
            <a:ext cx="288950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Layer-aware feature set</a:t>
            </a:r>
            <a:endParaRPr sz="107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63640" y="2980944"/>
            <a:ext cx="2834640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081527"/>
            <a:ext cx="2688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Distinguishes Wi‑Fi, router, and ISP signals</a:t>
            </a:r>
            <a:endParaRPr sz="107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621024"/>
            <a:ext cx="2514600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721608"/>
            <a:ext cx="23682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Opaque classification</a:t>
            </a:r>
            <a:endParaRPr sz="107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136392" y="3621024"/>
            <a:ext cx="3035808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9544" y="3721608"/>
            <a:ext cx="288950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Evidence + confidence display</a:t>
            </a:r>
            <a:endParaRPr sz="107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63640" y="3621024"/>
            <a:ext cx="2834640" cy="630936"/>
          </a:xfrm>
          <a:prstGeom prst="rect">
            <a:avLst/>
          </a:prstGeom>
          <a:solidFill>
            <a:srgbClr val="EFF4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3721608"/>
            <a:ext cx="2688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141414"/>
                </a:solidFill>
                <a:latin typeface="Aptos"/>
              </a:rPr>
              <a:t>Makes the diagnosis explainable</a:t>
            </a:r>
            <a:endParaRPr sz="107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261104"/>
            <a:ext cx="25146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361688"/>
            <a:ext cx="236829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1">
                <a:solidFill>
                  <a:srgbClr val="141414"/>
                </a:solidFill>
                <a:latin typeface="Aptos"/>
              </a:rPr>
              <a:t>Generic advice</a:t>
            </a:r>
            <a:endParaRPr sz="107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136392" y="4261104"/>
            <a:ext cx="3035808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9544" y="4361688"/>
            <a:ext cx="288950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1">
                <a:solidFill>
                  <a:srgbClr val="141414"/>
                </a:solidFill>
                <a:latin typeface="Aptos"/>
              </a:rPr>
              <a:t>Ranked, safe recommendations</a:t>
            </a:r>
            <a:endParaRPr sz="107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63640" y="4261104"/>
            <a:ext cx="2834640" cy="630936"/>
          </a:xfrm>
          <a:prstGeom prst="rect">
            <a:avLst/>
          </a:prstGeom>
          <a:solidFill>
            <a:srgbClr val="FFFFFF"/>
          </a:solidFill>
          <a:ln>
            <a:solidFill>
              <a:srgbClr val="C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4361688"/>
            <a:ext cx="26883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1">
                <a:solidFill>
                  <a:srgbClr val="141414"/>
                </a:solidFill>
                <a:latin typeface="Aptos"/>
              </a:rPr>
              <a:t>Reduces unnecessary resets and support calls</a:t>
            </a:r>
            <a:endParaRPr sz="1070" b="1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Architecture Design (UML Diagram)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Solution Architecture &amp; Design</a:t>
            </a:r>
            <a:endParaRPr sz="23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70408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Varshini SD &amp; Aditya  •  A3-PS015-TC142  •  October 14, 2026</a:t>
            </a:r>
            <a:endParaRPr sz="7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7 / 11</a:t>
            </a:r>
            <a:endParaRPr sz="700" b="0">
              <a:solidFill>
                <a:srgbClr val="0000D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Component view</a:t>
            </a:r>
            <a:endParaRPr sz="160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121408"/>
            <a:ext cx="164592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1517904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User App
Web / Mobile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71800" y="2121408"/>
            <a:ext cx="164592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194560"/>
            <a:ext cx="1517904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Measurement
Collector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58384" y="2121408"/>
            <a:ext cx="164592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2392" y="2194560"/>
            <a:ext cx="1517904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Feature
Extractor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35824" y="2121408"/>
            <a:ext cx="164592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2" y="2194560"/>
            <a:ext cx="1517904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Diagnosis
Engine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104120" y="2121408"/>
            <a:ext cx="1554480" cy="7498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68128" y="2194560"/>
            <a:ext cx="1426464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Explanation &amp;
Recommendation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2267712" y="2496312"/>
            <a:ext cx="640079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45152" y="2496312"/>
            <a:ext cx="64008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31736" y="2496312"/>
            <a:ext cx="640080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00032" y="2496312"/>
            <a:ext cx="640079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54880" y="3913632"/>
            <a:ext cx="2194560" cy="658368"/>
          </a:xfrm>
          <a:prstGeom prst="roundRect">
            <a:avLst/>
          </a:prstGeom>
          <a:solidFill>
            <a:srgbClr val="F2F2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3986784"/>
            <a:ext cx="2066543" cy="512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00087"/>
                </a:solidFill>
                <a:latin typeface="Aptos"/>
              </a:rPr>
              <a:t>Metrics Store
(time-series history)</a:t>
            </a:r>
            <a:endParaRPr sz="1100" b="1">
              <a:solidFill>
                <a:srgbClr val="000087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 flipV="1">
            <a:off x="5541264" y="2907792"/>
            <a:ext cx="448056" cy="100584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400800" y="2907792"/>
            <a:ext cx="1965960" cy="100584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102352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525252"/>
                </a:solidFill>
                <a:latin typeface="Aptos"/>
              </a:rPr>
              <a:t>Inputs: latency, jitter, packet loss, download/upload, signal strength, test history</a:t>
            </a:r>
            <a:endParaRPr sz="1250" b="0">
              <a:solidFill>
                <a:srgbClr val="525252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ptos"/>
              </a:rPr>
              <a:t>Figure: Explainable Connectivity Diagnosis Architecture</a:t>
            </a:r>
            <a:endParaRPr sz="1000" b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Data Flow Diagram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Data Flow Diagram</a:t>
            </a:r>
            <a:endParaRPr sz="23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70408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Varshini SD &amp; Aditya  •  A3-PS015-TC142  •  October 14, 2026</a:t>
            </a:r>
            <a:endParaRPr sz="7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8 / 11</a:t>
            </a:r>
            <a:endParaRPr sz="700" b="0">
              <a:solidFill>
                <a:srgbClr val="0000D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Data flow from a connectivity test to a user decision.</a:t>
            </a:r>
            <a:endParaRPr sz="160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1508760" cy="685800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13432"/>
            <a:ext cx="1380743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User
starts test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71800" y="2240280"/>
            <a:ext cx="1965960" cy="685800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313432"/>
            <a:ext cx="1837943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Collect local +
network metrics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60720" y="2240280"/>
            <a:ext cx="1965960" cy="685800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4728" y="2313432"/>
            <a:ext cx="1837943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Normalize &amp;
validate readings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49640" y="2240280"/>
            <a:ext cx="1645920" cy="685800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313432"/>
            <a:ext cx="1517904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00087"/>
                </a:solidFill>
                <a:latin typeface="Aptos"/>
              </a:rPr>
              <a:t>Infer likely
root cause</a:t>
            </a:r>
            <a:endParaRPr sz="1200" b="1">
              <a:solidFill>
                <a:srgbClr val="00008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835640" y="2240280"/>
            <a:ext cx="1005840" cy="685800"/>
          </a:xfrm>
          <a:prstGeom prst="roundRect">
            <a:avLst/>
          </a:prstGeom>
          <a:solidFill>
            <a:srgbClr val="E1E8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99648" y="2313432"/>
            <a:ext cx="877824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00087"/>
                </a:solidFill>
                <a:latin typeface="Aptos"/>
              </a:rPr>
              <a:t>Explain +
recommend</a:t>
            </a:r>
            <a:endParaRPr sz="1000" b="1">
              <a:solidFill>
                <a:srgbClr val="000087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2176272" y="2578608"/>
            <a:ext cx="749808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65192" y="2578608"/>
            <a:ext cx="749808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54112" y="2578608"/>
            <a:ext cx="749808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22992" y="2578608"/>
            <a:ext cx="566928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37760" y="3977639"/>
            <a:ext cx="2194560" cy="658368"/>
          </a:xfrm>
          <a:prstGeom prst="roundRect">
            <a:avLst/>
          </a:prstGeom>
          <a:solidFill>
            <a:srgbClr val="F2F2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1768" y="4050791"/>
            <a:ext cx="2066543" cy="512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00087"/>
                </a:solidFill>
                <a:latin typeface="Aptos"/>
              </a:rPr>
              <a:t>Diagnostic history /
baseline profile</a:t>
            </a:r>
            <a:endParaRPr sz="1100" b="1">
              <a:solidFill>
                <a:srgbClr val="000087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 flipV="1">
            <a:off x="6035040" y="2971800"/>
            <a:ext cx="502920" cy="1005839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8" y="516636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25252"/>
                </a:solidFill>
                <a:latin typeface="Aptos"/>
              </a:rPr>
              <a:t>Output includes: likely cause • supporting evidence • confidence • next-best action</a:t>
            </a:r>
            <a:endParaRPr sz="1300" b="0">
              <a:solidFill>
                <a:srgbClr val="525252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ptos"/>
              </a:rPr>
              <a:t>Figure: Data Flow Diagram (DFD)</a:t>
            </a:r>
            <a:endParaRPr sz="1000" b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Deployment Timeline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Deployment Timeline</a:t>
            </a:r>
            <a:endParaRPr sz="23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70408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Varshini SD &amp; Aditya  •  A3-PS015-TC142  •  October 14, 2026</a:t>
            </a:r>
            <a:endParaRPr sz="7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9 / 11</a:t>
            </a:r>
            <a:endParaRPr sz="700" b="0">
              <a:solidFill>
                <a:srgbClr val="0000D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Phased delivery keeps the system measurable, safe, and useful.</a:t>
            </a:r>
            <a:endParaRPr sz="160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084831"/>
            <a:ext cx="2331720" cy="21214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00D2"/>
                </a:solidFill>
                <a:latin typeface="Aptos"/>
              </a:rPr>
              <a:t>Phase 1</a:t>
            </a:r>
            <a:endParaRPr sz="15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15768"/>
            <a:ext cx="205740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525252"/>
                </a:solidFill>
                <a:latin typeface="Aptos"/>
              </a:rPr>
              <a:t>Weeks 1</a:t>
            </a:r>
            <a:endParaRPr sz="1100" b="1">
              <a:solidFill>
                <a:srgbClr val="52525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1" y="3127248"/>
            <a:ext cx="19933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Define metrics, test cases, and baseline rules</a:t>
            </a:r>
            <a:endParaRPr sz="1150" b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990087" y="3145536"/>
            <a:ext cx="420624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2084831"/>
            <a:ext cx="2331720" cy="21214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331720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00D2"/>
                </a:solidFill>
                <a:latin typeface="Aptos"/>
              </a:rPr>
              <a:t>Phase 2</a:t>
            </a:r>
            <a:endParaRPr sz="15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1879" y="2715768"/>
            <a:ext cx="205740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525252"/>
                </a:solidFill>
                <a:latin typeface="Aptos"/>
              </a:rPr>
              <a:t>Weeks </a:t>
            </a:r>
            <a:r>
              <a:rPr lang="en-US" sz="1100" b="1">
                <a:solidFill>
                  <a:srgbClr val="525252"/>
                </a:solidFill>
                <a:latin typeface="Aptos"/>
              </a:rPr>
              <a:t>2</a:t>
            </a:r>
            <a:endParaRPr lang="en-US" sz="1100" b="1">
              <a:solidFill>
                <a:srgbClr val="52525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39312" y="3127248"/>
            <a:ext cx="19933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Build collector, test runner, and data pipeline</a:t>
            </a:r>
            <a:endParaRPr sz="1150" b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824727" y="3145536"/>
            <a:ext cx="420625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2084831"/>
            <a:ext cx="2331720" cy="21214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00D2"/>
                </a:solidFill>
                <a:latin typeface="Aptos"/>
              </a:rPr>
              <a:t>Phase 3</a:t>
            </a:r>
            <a:endParaRPr sz="15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2715768"/>
            <a:ext cx="205740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525252"/>
                </a:solidFill>
                <a:latin typeface="Aptos"/>
              </a:rPr>
              <a:t>Weeks </a:t>
            </a:r>
            <a:r>
              <a:rPr lang="en-US" sz="1100" b="1">
                <a:solidFill>
                  <a:srgbClr val="525252"/>
                </a:solidFill>
                <a:latin typeface="Aptos"/>
              </a:rPr>
              <a:t>3</a:t>
            </a:r>
            <a:endParaRPr lang="en-US" sz="1100" b="1">
              <a:solidFill>
                <a:srgbClr val="52525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73952" y="3127248"/>
            <a:ext cx="19933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Train/tune diagnosis logic and explanation layer</a:t>
            </a:r>
            <a:endParaRPr sz="1150" b="0">
              <a:solidFill>
                <a:srgbClr val="141414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659368" y="3145536"/>
            <a:ext cx="420624" cy="0"/>
          </a:xfrm>
          <a:prstGeom prst="line">
            <a:avLst/>
          </a:prstGeom>
          <a:ln w="19050">
            <a:solidFill>
              <a:srgbClr val="000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0" y="2084831"/>
            <a:ext cx="2331720" cy="2121408"/>
          </a:xfrm>
          <a:prstGeom prst="roundRect">
            <a:avLst/>
          </a:prstGeom>
          <a:solidFill>
            <a:srgbClr val="EFF4FF"/>
          </a:solidFill>
          <a:ln>
            <a:solidFill>
              <a:srgbClr val="00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331720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00D2"/>
                </a:solidFill>
                <a:latin typeface="Aptos"/>
              </a:rPr>
              <a:t>Phase 4</a:t>
            </a:r>
            <a:endParaRPr sz="15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81160" y="2715768"/>
            <a:ext cx="205740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525252"/>
                </a:solidFill>
                <a:latin typeface="Aptos"/>
              </a:rPr>
              <a:t>Weeks </a:t>
            </a:r>
            <a:r>
              <a:rPr lang="en-US" sz="1100" b="1">
                <a:solidFill>
                  <a:srgbClr val="525252"/>
                </a:solidFill>
                <a:latin typeface="Aptos"/>
              </a:rPr>
              <a:t>4</a:t>
            </a:r>
            <a:endParaRPr lang="en-US" sz="1100" b="1">
              <a:solidFill>
                <a:srgbClr val="525252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08592" y="3127248"/>
            <a:ext cx="199339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141414"/>
                </a:solidFill>
                <a:latin typeface="Aptos"/>
              </a:rPr>
              <a:t>Pilot, validate recommendations, and iterate</a:t>
            </a:r>
            <a:endParaRPr sz="115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" y="505663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25252"/>
                </a:solidFill>
                <a:latin typeface="Aptos"/>
              </a:rPr>
              <a:t>Success measures: diagnosis accuracy • explanation usefulness • recommendation completion • reduced unnecessary support contacts</a:t>
            </a:r>
            <a:endParaRPr sz="1300" b="0">
              <a:solidFill>
                <a:srgbClr val="52525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Bibliography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000D2"/>
                </a:solidFill>
                <a:latin typeface="Aptos"/>
              </a:rPr>
              <a:t>References</a:t>
            </a:r>
            <a:endParaRPr sz="23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496" y="6629400"/>
            <a:ext cx="70408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0000D2"/>
                </a:solidFill>
                <a:latin typeface="Aptos"/>
              </a:rPr>
              <a:t>Varshini SD &amp; Aditya  •  A3-PS015-TC142  •  October 14, 2026</a:t>
            </a:r>
            <a:endParaRPr sz="7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5952" y="6629400"/>
            <a:ext cx="594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0000D2"/>
                </a:solidFill>
                <a:latin typeface="Aptos"/>
              </a:rPr>
              <a:t>10 / 11</a:t>
            </a:r>
            <a:endParaRPr sz="700" b="0">
              <a:solidFill>
                <a:srgbClr val="0000D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1414"/>
                </a:solidFill>
                <a:latin typeface="Aptos"/>
              </a:rPr>
              <a:t>Selected references supporting network measurement concepts.</a:t>
            </a:r>
            <a:endParaRPr sz="1600" b="1">
              <a:solidFill>
                <a:srgbClr val="14141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103120"/>
            <a:ext cx="10652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[1] IETF RFC 6349. Framework for TCP Throughput Testing. August 2011.</a:t>
            </a:r>
            <a:endParaRPr sz="14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7"/>
            <a:ext cx="10652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[2] IETF RFC 2681. A Round-trip Delay Metric for IPPM. September 1999.</a:t>
            </a:r>
            <a:endParaRPr sz="14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3419856"/>
            <a:ext cx="10652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[3] IETF RFC 3393. IP Packet Delay Variation Metric for IPPM. November 2002.</a:t>
            </a:r>
            <a:endParaRPr sz="14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4078224"/>
            <a:ext cx="10652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ptos"/>
              </a:rPr>
              <a:t>[4] ITU-T Recommendation Y.1540. Internet protocol data communication service — IP packet transfer and availability performance parameters.</a:t>
            </a:r>
            <a:endParaRPr sz="1400" b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23960" y="914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1">
                <a:solidFill>
                  <a:srgbClr val="0000D2"/>
                </a:solidFill>
                <a:latin typeface="Aptos"/>
              </a:rPr>
              <a:t>AIORI 3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92640" y="91440"/>
            <a:ext cx="2148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1">
                <a:solidFill>
                  <a:srgbClr val="0000D2"/>
                </a:solidFill>
                <a:latin typeface="Aptos"/>
              </a:rPr>
              <a:t>Closing</a:t>
            </a:r>
            <a:endParaRPr sz="72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2057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>
                <a:solidFill>
                  <a:srgbClr val="0000D2"/>
                </a:solidFill>
                <a:latin typeface="Aptos"/>
              </a:rPr>
              <a:t>Thank You</a:t>
            </a:r>
            <a:endParaRPr sz="3000" b="1">
              <a:solidFill>
                <a:srgbClr val="0000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442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Aptos"/>
              </a:rPr>
              <a:t>Making home connectivity problems understandable,
explainable, and easier to resolve.</a:t>
            </a:r>
            <a:endParaRPr sz="1800" b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4709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00087"/>
                </a:solidFill>
                <a:latin typeface="Aptos"/>
              </a:rPr>
              <a:t>Questions?</a:t>
            </a:r>
            <a:endParaRPr sz="1800" b="1">
              <a:solidFill>
                <a:srgbClr val="000087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5202</Words>
  <Application>WPS Presentation</Application>
  <PresentationFormat>On-screen Show (4:3)</PresentationFormat>
  <Paragraphs>323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Aditya Bunna</cp:lastModifiedBy>
  <cp:revision>3</cp:revision>
  <dcterms:created xsi:type="dcterms:W3CDTF">2013-01-27T09:14:00Z</dcterms:created>
  <dcterms:modified xsi:type="dcterms:W3CDTF">2026-10-14T17:19:56Z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F5247E8F14F2484EA5DEF89B015E63A6_13</vt:lpwstr>
  </property>
</Properties>
</file>