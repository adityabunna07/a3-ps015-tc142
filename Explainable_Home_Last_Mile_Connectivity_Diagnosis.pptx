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23960" y="91440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20" b="1">
                <a:solidFill>
                  <a:srgbClr val="0000D2"/>
                </a:solidFill>
                <a:latin typeface="Aptos"/>
              </a:rPr>
              <a:t>AIORI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91440"/>
            <a:ext cx="21488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1">
                <a:solidFill>
                  <a:srgbClr val="0000D2"/>
                </a:solidFill>
                <a:latin typeface="Aptos"/>
              </a:rPr>
              <a:t>Hackathon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280160"/>
            <a:ext cx="108813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00087"/>
                </a:solidFill>
                <a:latin typeface="Aptos"/>
              </a:rPr>
              <a:t>Explainable Home &amp;
Last-Mile Connectivity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88920"/>
            <a:ext cx="9052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141414"/>
                </a:solidFill>
                <a:latin typeface="Aptos"/>
              </a:rPr>
              <a:t>An AI-powered system that identifies likely connectivity causes
and gives users clear, actionable next steps.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636008"/>
            <a:ext cx="3931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41414"/>
                </a:solidFill>
                <a:latin typeface="Aptos"/>
              </a:rPr>
              <a:t>AIORI Hackathon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983480"/>
            <a:ext cx="3931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41414"/>
                </a:solidFill>
                <a:latin typeface="Aptos"/>
              </a:rPr>
              <a:t>October 14,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23960" y="91440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20" b="1">
                <a:solidFill>
                  <a:srgbClr val="0000D2"/>
                </a:solidFill>
                <a:latin typeface="Aptos"/>
              </a:rPr>
              <a:t>AIORI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91440"/>
            <a:ext cx="21488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1">
                <a:solidFill>
                  <a:srgbClr val="0000D2"/>
                </a:solidFill>
                <a:latin typeface="Aptos"/>
              </a:rPr>
              <a:t>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" y="530352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0000D2"/>
                </a:solidFill>
                <a:latin typeface="Aptos"/>
              </a:rPr>
              <a:t>Problem Description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6629400"/>
            <a:ext cx="585216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0000D2"/>
                </a:solidFill>
                <a:latin typeface="Aptos"/>
              </a:rPr>
              <a:t>Home Connectivity Diagnosis  •  October 14,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629400"/>
            <a:ext cx="59436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00" b="0">
                <a:solidFill>
                  <a:srgbClr val="0000D2"/>
                </a:solidFill>
                <a:latin typeface="Aptos"/>
              </a:rPr>
              <a:t>2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1414"/>
                </a:solidFill>
                <a:latin typeface="Aptos"/>
              </a:rPr>
              <a:t>Users can see that their connection is poor — but rarely why.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56816"/>
            <a:ext cx="182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20" b="1">
                <a:solidFill>
                  <a:srgbClr val="0000D2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956816"/>
            <a:ext cx="10698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20" b="0">
                <a:solidFill>
                  <a:srgbClr val="141414"/>
                </a:solidFill>
                <a:latin typeface="Aptos"/>
              </a:rPr>
              <a:t>Slow speeds, buffering, high latency, packet loss, and dropouts disrupt work, learning, calls, and gaming.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182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20" b="1">
                <a:solidFill>
                  <a:srgbClr val="0000D2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514600"/>
            <a:ext cx="10698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20" b="0">
                <a:solidFill>
                  <a:srgbClr val="141414"/>
                </a:solidFill>
                <a:latin typeface="Aptos"/>
              </a:rPr>
              <a:t>The root cause can be Wi‑Fi signal weakness, interference, congestion, router faults, or an ISP/last-mile issue.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72384"/>
            <a:ext cx="182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20" b="1">
                <a:solidFill>
                  <a:srgbClr val="0000D2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072384"/>
            <a:ext cx="10698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20" b="0">
                <a:solidFill>
                  <a:srgbClr val="141414"/>
                </a:solidFill>
                <a:latin typeface="Aptos"/>
              </a:rPr>
              <a:t>Conventional speed tests report metrics but do not explain the probable cause or what the user should do next.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30168"/>
            <a:ext cx="182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20" b="1">
                <a:solidFill>
                  <a:srgbClr val="0000D2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630168"/>
            <a:ext cx="10698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20" b="0">
                <a:solidFill>
                  <a:srgbClr val="141414"/>
                </a:solidFill>
                <a:latin typeface="Aptos"/>
              </a:rPr>
              <a:t>This leads to blind restarts, unnecessary setting changes, and avoidable ISP support calls.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23960" y="91440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20" b="1">
                <a:solidFill>
                  <a:srgbClr val="0000D2"/>
                </a:solidFill>
                <a:latin typeface="Aptos"/>
              </a:rPr>
              <a:t>AIORI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91440"/>
            <a:ext cx="21488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1">
                <a:solidFill>
                  <a:srgbClr val="0000D2"/>
                </a:solidFill>
                <a:latin typeface="Aptos"/>
              </a:rPr>
              <a:t>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" y="530352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0000D2"/>
                </a:solidFill>
                <a:latin typeface="Aptos"/>
              </a:rPr>
              <a:t>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6629400"/>
            <a:ext cx="585216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0000D2"/>
                </a:solidFill>
                <a:latin typeface="Aptos"/>
              </a:rPr>
              <a:t>Home Connectivity Diagnosis  •  October 14,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629400"/>
            <a:ext cx="59436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00" b="0">
                <a:solidFill>
                  <a:srgbClr val="0000D2"/>
                </a:solidFill>
                <a:latin typeface="Aptos"/>
              </a:rPr>
              <a:t>3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1414"/>
                </a:solidFill>
                <a:latin typeface="Aptos"/>
              </a:rPr>
              <a:t>Home connectivity is a multi-layer experience.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40280"/>
            <a:ext cx="1691640" cy="621792"/>
          </a:xfrm>
          <a:prstGeom prst="roundRect">
            <a:avLst/>
          </a:prstGeom>
          <a:solidFill>
            <a:srgbClr val="EFF4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313432"/>
            <a:ext cx="1563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87"/>
                </a:solidFill>
                <a:latin typeface="Aptos"/>
              </a:rPr>
              <a:t>Device &amp; Wi‑Fi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2240280"/>
            <a:ext cx="1691640" cy="621792"/>
          </a:xfrm>
          <a:prstGeom prst="roundRect">
            <a:avLst/>
          </a:prstGeom>
          <a:solidFill>
            <a:srgbClr val="EFF4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18688" y="2313432"/>
            <a:ext cx="1563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87"/>
                </a:solidFill>
                <a:latin typeface="Aptos"/>
              </a:rPr>
              <a:t>Home Router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2240280"/>
            <a:ext cx="1691640" cy="621792"/>
          </a:xfrm>
          <a:prstGeom prst="roundRect">
            <a:avLst/>
          </a:prstGeom>
          <a:solidFill>
            <a:srgbClr val="EFF4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87568" y="2313432"/>
            <a:ext cx="1563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87"/>
                </a:solidFill>
                <a:latin typeface="Aptos"/>
              </a:rPr>
              <a:t>ISP Last Mile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240280"/>
            <a:ext cx="1691640" cy="621792"/>
          </a:xfrm>
          <a:prstGeom prst="roundRect">
            <a:avLst/>
          </a:prstGeom>
          <a:solidFill>
            <a:srgbClr val="EFF4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2313432"/>
            <a:ext cx="1563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87"/>
                </a:solidFill>
                <a:latin typeface="Aptos"/>
              </a:rPr>
              <a:t>Internet Service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377440" y="2551176"/>
            <a:ext cx="731520" cy="0"/>
          </a:xfrm>
          <a:prstGeom prst="line">
            <a:avLst/>
          </a:prstGeom>
          <a:ln w="19050">
            <a:solidFill>
              <a:srgbClr val="000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846320" y="2551176"/>
            <a:ext cx="731520" cy="0"/>
          </a:xfrm>
          <a:prstGeom prst="line">
            <a:avLst/>
          </a:prstGeom>
          <a:ln w="19050">
            <a:solidFill>
              <a:srgbClr val="000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315200" y="2551176"/>
            <a:ext cx="731520" cy="0"/>
          </a:xfrm>
          <a:prstGeom prst="line">
            <a:avLst/>
          </a:prstGeom>
          <a:ln w="19050">
            <a:solidFill>
              <a:srgbClr val="000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3383280"/>
            <a:ext cx="182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00D2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3383280"/>
            <a:ext cx="10698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41414"/>
                </a:solidFill>
                <a:latin typeface="Aptos"/>
              </a:rPr>
              <a:t>The same symptom can originate at different layers, so a single speed value is not enough for diagnosis.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913632"/>
            <a:ext cx="182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00D2"/>
                </a:solidFill>
                <a:latin typeface="Apto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3913632"/>
            <a:ext cx="10698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41414"/>
                </a:solidFill>
                <a:latin typeface="Aptos"/>
              </a:rPr>
              <a:t>Useful observations include latency, jitter, packet loss, download/upload throughput, Wi‑Fi signal, and time patterns.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443984"/>
            <a:ext cx="182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00D2"/>
                </a:solidFill>
                <a:latin typeface="Apto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443984"/>
            <a:ext cx="10698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41414"/>
                </a:solidFill>
                <a:latin typeface="Aptos"/>
              </a:rPr>
              <a:t>A helpful tool must translate measurements into confidence-aware, human-readable guidance.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23960" y="91440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20" b="1">
                <a:solidFill>
                  <a:srgbClr val="0000D2"/>
                </a:solidFill>
                <a:latin typeface="Aptos"/>
              </a:rPr>
              <a:t>AIORI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91440"/>
            <a:ext cx="21488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1">
                <a:solidFill>
                  <a:srgbClr val="0000D2"/>
                </a:solidFill>
                <a:latin typeface="Aptos"/>
              </a:rPr>
              <a:t>Literature &amp; RFC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" y="530352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0000D2"/>
                </a:solidFill>
                <a:latin typeface="Aptos"/>
              </a:rPr>
              <a:t>Literature &amp; Standards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6629400"/>
            <a:ext cx="585216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0000D2"/>
                </a:solidFill>
                <a:latin typeface="Aptos"/>
              </a:rPr>
              <a:t>Home Connectivity Diagnosis  •  October 14,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629400"/>
            <a:ext cx="59436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00" b="0">
                <a:solidFill>
                  <a:srgbClr val="0000D2"/>
                </a:solidFill>
                <a:latin typeface="Aptos"/>
              </a:rPr>
              <a:t>4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1414"/>
                </a:solidFill>
                <a:latin typeface="Aptos"/>
              </a:rPr>
              <a:t>What existing measurement practice gives us — and what it misses.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2240280" cy="393192"/>
          </a:xfrm>
          <a:prstGeom prst="rect">
            <a:avLst/>
          </a:prstGeom>
          <a:solidFill>
            <a:srgbClr val="0000D2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057400"/>
            <a:ext cx="20939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Source / Practice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1965960"/>
            <a:ext cx="3337560" cy="393192"/>
          </a:xfrm>
          <a:prstGeom prst="rect">
            <a:avLst/>
          </a:prstGeom>
          <a:solidFill>
            <a:srgbClr val="0000D2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9232" y="2057400"/>
            <a:ext cx="31912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Contribution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965960"/>
            <a:ext cx="5212080" cy="393192"/>
          </a:xfrm>
          <a:prstGeom prst="rect">
            <a:avLst/>
          </a:prstGeom>
          <a:solidFill>
            <a:srgbClr val="0000D2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057400"/>
            <a:ext cx="50657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Gap / Opportunity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368296"/>
            <a:ext cx="2240280" cy="594360"/>
          </a:xfrm>
          <a:prstGeom prst="rect">
            <a:avLst/>
          </a:prstGeom>
          <a:solidFill>
            <a:srgbClr val="EFF4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459736"/>
            <a:ext cx="209397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30" b="0">
                <a:solidFill>
                  <a:srgbClr val="141414"/>
                </a:solidFill>
                <a:latin typeface="Aptos"/>
              </a:rPr>
              <a:t>Speed tests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2368296"/>
            <a:ext cx="3337560" cy="594360"/>
          </a:xfrm>
          <a:prstGeom prst="rect">
            <a:avLst/>
          </a:prstGeom>
          <a:solidFill>
            <a:srgbClr val="EFF4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99232" y="2459736"/>
            <a:ext cx="319125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30" b="0">
                <a:solidFill>
                  <a:srgbClr val="141414"/>
                </a:solidFill>
                <a:latin typeface="Aptos"/>
              </a:rPr>
              <a:t>Download/upload throughput; ping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368296"/>
            <a:ext cx="5212080" cy="594360"/>
          </a:xfrm>
          <a:prstGeom prst="rect">
            <a:avLst/>
          </a:prstGeom>
          <a:solidFill>
            <a:srgbClr val="EFF4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2459736"/>
            <a:ext cx="506577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30" b="0">
                <a:solidFill>
                  <a:srgbClr val="141414"/>
                </a:solidFill>
                <a:latin typeface="Aptos"/>
              </a:rPr>
              <a:t>Usually no root-cause explanation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971800"/>
            <a:ext cx="22402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063240"/>
            <a:ext cx="209397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30" b="0">
                <a:solidFill>
                  <a:srgbClr val="141414"/>
                </a:solidFill>
                <a:latin typeface="Aptos"/>
              </a:rPr>
              <a:t>RFC 6349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0" y="2971800"/>
            <a:ext cx="33375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99232" y="3063240"/>
            <a:ext cx="319125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30" b="0">
                <a:solidFill>
                  <a:srgbClr val="141414"/>
                </a:solidFill>
                <a:latin typeface="Aptos"/>
              </a:rPr>
              <a:t>TCP throughput testing framework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971800"/>
            <a:ext cx="52120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3063240"/>
            <a:ext cx="506577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30" b="0">
                <a:solidFill>
                  <a:srgbClr val="141414"/>
                </a:solidFill>
                <a:latin typeface="Aptos"/>
              </a:rPr>
              <a:t>Metrics need interpretation for home users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575304"/>
            <a:ext cx="2240280" cy="594360"/>
          </a:xfrm>
          <a:prstGeom prst="rect">
            <a:avLst/>
          </a:prstGeom>
          <a:solidFill>
            <a:srgbClr val="EFF4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3666744"/>
            <a:ext cx="209397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30" b="0">
                <a:solidFill>
                  <a:srgbClr val="141414"/>
                </a:solidFill>
                <a:latin typeface="Aptos"/>
              </a:rPr>
              <a:t>RFC 2681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80" y="3575304"/>
            <a:ext cx="3337560" cy="594360"/>
          </a:xfrm>
          <a:prstGeom prst="rect">
            <a:avLst/>
          </a:prstGeom>
          <a:solidFill>
            <a:srgbClr val="EFF4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99232" y="3666744"/>
            <a:ext cx="319125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30" b="0">
                <a:solidFill>
                  <a:srgbClr val="141414"/>
                </a:solidFill>
                <a:latin typeface="Aptos"/>
              </a:rPr>
              <a:t>One-way delay measurement concepts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575304"/>
            <a:ext cx="5212080" cy="594360"/>
          </a:xfrm>
          <a:prstGeom prst="rect">
            <a:avLst/>
          </a:prstGeom>
          <a:solidFill>
            <a:srgbClr val="EFF4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3952" y="3666744"/>
            <a:ext cx="506577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30" b="0">
                <a:solidFill>
                  <a:srgbClr val="141414"/>
                </a:solidFill>
                <a:latin typeface="Aptos"/>
              </a:rPr>
              <a:t>Delay alone does not isolate the failing layer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178808"/>
            <a:ext cx="22402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4270248"/>
            <a:ext cx="209397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30" b="1">
                <a:solidFill>
                  <a:srgbClr val="141414"/>
                </a:solidFill>
                <a:latin typeface="Aptos"/>
              </a:rPr>
              <a:t>Our approach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26080" y="4178808"/>
            <a:ext cx="33375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99232" y="4270248"/>
            <a:ext cx="319125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30" b="1">
                <a:solidFill>
                  <a:srgbClr val="141414"/>
                </a:solidFill>
                <a:latin typeface="Aptos"/>
              </a:rPr>
              <a:t>Multi-metric diagnosis + explanations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4178808"/>
            <a:ext cx="52120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73952" y="4270248"/>
            <a:ext cx="506577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30" b="1">
                <a:solidFill>
                  <a:srgbClr val="141414"/>
                </a:solidFill>
                <a:latin typeface="Aptos"/>
              </a:rPr>
              <a:t>Actionable, personalized troubleshooting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23960" y="91440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20" b="1">
                <a:solidFill>
                  <a:srgbClr val="0000D2"/>
                </a:solidFill>
                <a:latin typeface="Aptos"/>
              </a:rPr>
              <a:t>AIORI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91440"/>
            <a:ext cx="21488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1">
                <a:solidFill>
                  <a:srgbClr val="0000D2"/>
                </a:solidFill>
                <a:latin typeface="Aptos"/>
              </a:rP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" y="530352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0000D2"/>
                </a:solidFill>
                <a:latin typeface="Aptos"/>
              </a:rPr>
              <a:t>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6629400"/>
            <a:ext cx="585216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0000D2"/>
                </a:solidFill>
                <a:latin typeface="Aptos"/>
              </a:rPr>
              <a:t>Home Connectivity Diagnosis  •  October 14,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629400"/>
            <a:ext cx="59436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00" b="0">
                <a:solidFill>
                  <a:srgbClr val="0000D2"/>
                </a:solidFill>
                <a:latin typeface="Aptos"/>
              </a:rPr>
              <a:t>5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1414"/>
                </a:solidFill>
                <a:latin typeface="Aptos"/>
              </a:rPr>
              <a:t>An explainable diagnosis engine turns raw network tests into practical advice.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2103120"/>
            <a:ext cx="2011680" cy="530352"/>
          </a:xfrm>
          <a:prstGeom prst="roundRect">
            <a:avLst/>
          </a:prstGeom>
          <a:solidFill>
            <a:srgbClr val="E1E8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2176272"/>
            <a:ext cx="1883664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00087"/>
                </a:solidFill>
                <a:latin typeface="Aptos"/>
              </a:rPr>
              <a:t>1. Measure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61488"/>
            <a:ext cx="18653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41414"/>
                </a:solidFill>
                <a:latin typeface="Aptos"/>
              </a:rPr>
              <a:t>Latency • jitter • loss
throughput • Wi‑Fi signal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0048" y="2368296"/>
            <a:ext cx="621792" cy="0"/>
          </a:xfrm>
          <a:prstGeom prst="line">
            <a:avLst/>
          </a:prstGeom>
          <a:ln w="19050">
            <a:solidFill>
              <a:srgbClr val="000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65576" y="2103120"/>
            <a:ext cx="2011680" cy="530352"/>
          </a:xfrm>
          <a:prstGeom prst="roundRect">
            <a:avLst/>
          </a:prstGeom>
          <a:solidFill>
            <a:srgbClr val="E1E8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9584" y="2176272"/>
            <a:ext cx="1883664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00087"/>
                </a:solidFill>
                <a:latin typeface="Aptos"/>
              </a:rPr>
              <a:t>2. Analyze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2761488"/>
            <a:ext cx="18653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41414"/>
                </a:solidFill>
                <a:latin typeface="Aptos"/>
              </a:rPr>
              <a:t>Rules + ML classify
likely bottleneck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522976" y="2368296"/>
            <a:ext cx="621792" cy="0"/>
          </a:xfrm>
          <a:prstGeom prst="line">
            <a:avLst/>
          </a:prstGeom>
          <a:ln w="19050">
            <a:solidFill>
              <a:srgbClr val="000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18504" y="2103120"/>
            <a:ext cx="2011680" cy="530352"/>
          </a:xfrm>
          <a:prstGeom prst="roundRect">
            <a:avLst/>
          </a:prstGeom>
          <a:solidFill>
            <a:srgbClr val="E1E8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2176272"/>
            <a:ext cx="1883664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00087"/>
                </a:solidFill>
                <a:latin typeface="Aptos"/>
              </a:rPr>
              <a:t>3. Explain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2761488"/>
            <a:ext cx="18653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41414"/>
                </a:solidFill>
                <a:latin typeface="Aptos"/>
              </a:rPr>
              <a:t>Show evidence and
confidence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375904" y="2368296"/>
            <a:ext cx="621792" cy="0"/>
          </a:xfrm>
          <a:prstGeom prst="line">
            <a:avLst/>
          </a:prstGeom>
          <a:ln w="19050">
            <a:solidFill>
              <a:srgbClr val="000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71432" y="2103120"/>
            <a:ext cx="2011680" cy="530352"/>
          </a:xfrm>
          <a:prstGeom prst="roundRect">
            <a:avLst/>
          </a:prstGeom>
          <a:solidFill>
            <a:srgbClr val="E1E8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2176272"/>
            <a:ext cx="1883664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00087"/>
                </a:solidFill>
                <a:latin typeface="Aptos"/>
              </a:rPr>
              <a:t>4. 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4584" y="2761488"/>
            <a:ext cx="18653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41414"/>
                </a:solidFill>
                <a:latin typeface="Aptos"/>
              </a:rPr>
              <a:t>Give safe, prioritized
recommendations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069080"/>
            <a:ext cx="182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0000D2"/>
                </a:solidFill>
                <a:latin typeface="Apto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069080"/>
            <a:ext cx="10698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141414"/>
                </a:solidFill>
                <a:latin typeface="Aptos"/>
              </a:rPr>
              <a:t>Example: weak signal plus normal wired performance → “Move closer to the router or use 5 GHz.”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709160"/>
            <a:ext cx="182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0000D2"/>
                </a:solidFill>
                <a:latin typeface="Apto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4709160"/>
            <a:ext cx="10698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141414"/>
                </a:solidFill>
                <a:latin typeface="Aptos"/>
              </a:rPr>
              <a:t>Example: healthy local link but persistent external loss/latency → “Collect evidence and investigate ISP-side issues.”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23960" y="91440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20" b="1">
                <a:solidFill>
                  <a:srgbClr val="0000D2"/>
                </a:solidFill>
                <a:latin typeface="Aptos"/>
              </a:rPr>
              <a:t>AIORI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91440"/>
            <a:ext cx="21488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1">
                <a:solidFill>
                  <a:srgbClr val="0000D2"/>
                </a:solidFill>
                <a:latin typeface="Aptos"/>
              </a:rPr>
              <a:t>Solution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" y="530352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0000D2"/>
                </a:solidFill>
                <a:latin typeface="Aptos"/>
              </a:rPr>
              <a:t>Optimization Proposed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6629400"/>
            <a:ext cx="585216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0000D2"/>
                </a:solidFill>
                <a:latin typeface="Aptos"/>
              </a:rPr>
              <a:t>Home Connectivity Diagnosis  •  October 14,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629400"/>
            <a:ext cx="59436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00" b="0">
                <a:solidFill>
                  <a:srgbClr val="0000D2"/>
                </a:solidFill>
                <a:latin typeface="Aptos"/>
              </a:rPr>
              <a:t>6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1414"/>
                </a:solidFill>
                <a:latin typeface="Aptos"/>
              </a:rPr>
              <a:t>From raw metrics to a diagnosis users can trust.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38528"/>
            <a:ext cx="2514600" cy="393192"/>
          </a:xfrm>
          <a:prstGeom prst="rect">
            <a:avLst/>
          </a:prstGeom>
          <a:solidFill>
            <a:srgbClr val="0000D2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039112"/>
            <a:ext cx="236829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Before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36392" y="1938528"/>
            <a:ext cx="3035808" cy="393192"/>
          </a:xfrm>
          <a:prstGeom prst="rect">
            <a:avLst/>
          </a:prstGeom>
          <a:solidFill>
            <a:srgbClr val="0000D2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9544" y="2039112"/>
            <a:ext cx="2889503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Enhancement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938528"/>
            <a:ext cx="2834640" cy="393192"/>
          </a:xfrm>
          <a:prstGeom prst="rect">
            <a:avLst/>
          </a:prstGeom>
          <a:solidFill>
            <a:srgbClr val="0000D2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2039112"/>
            <a:ext cx="268833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After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62288" y="1938528"/>
            <a:ext cx="2468880" cy="393192"/>
          </a:xfrm>
          <a:prstGeom prst="rect">
            <a:avLst/>
          </a:prstGeom>
          <a:solidFill>
            <a:srgbClr val="0000D2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2039112"/>
            <a:ext cx="232257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User value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340864"/>
            <a:ext cx="2514600" cy="630936"/>
          </a:xfrm>
          <a:prstGeom prst="rect">
            <a:avLst/>
          </a:prstGeom>
          <a:solidFill>
            <a:srgbClr val="EFF4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441448"/>
            <a:ext cx="23682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Single snapshot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36392" y="2340864"/>
            <a:ext cx="3035808" cy="630936"/>
          </a:xfrm>
          <a:prstGeom prst="rect">
            <a:avLst/>
          </a:prstGeom>
          <a:solidFill>
            <a:srgbClr val="EFF4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9544" y="2441448"/>
            <a:ext cx="288950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Repeated tests over 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340864"/>
            <a:ext cx="2834640" cy="630936"/>
          </a:xfrm>
          <a:prstGeom prst="rect">
            <a:avLst/>
          </a:prstGeom>
          <a:solidFill>
            <a:srgbClr val="EFF4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2441448"/>
            <a:ext cx="268833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Separates transient congestion from persistent faults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980944"/>
            <a:ext cx="2514600" cy="630936"/>
          </a:xfrm>
          <a:prstGeom prst="rect">
            <a:avLst/>
          </a:prstGeom>
          <a:solidFill>
            <a:srgbClr val="FFFF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3081527"/>
            <a:ext cx="23682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One aggregate score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36392" y="2980944"/>
            <a:ext cx="3035808" cy="630936"/>
          </a:xfrm>
          <a:prstGeom prst="rect">
            <a:avLst/>
          </a:prstGeom>
          <a:solidFill>
            <a:srgbClr val="FFFF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9544" y="3081527"/>
            <a:ext cx="288950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Layer-aware feature set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2980944"/>
            <a:ext cx="2834640" cy="630936"/>
          </a:xfrm>
          <a:prstGeom prst="rect">
            <a:avLst/>
          </a:prstGeom>
          <a:solidFill>
            <a:srgbClr val="FFFF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3081527"/>
            <a:ext cx="268833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Distinguishes Wi‑Fi, router, and ISP signals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621024"/>
            <a:ext cx="2514600" cy="630936"/>
          </a:xfrm>
          <a:prstGeom prst="rect">
            <a:avLst/>
          </a:prstGeom>
          <a:solidFill>
            <a:srgbClr val="EFF4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721608"/>
            <a:ext cx="23682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Opaque classification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36392" y="3621024"/>
            <a:ext cx="3035808" cy="630936"/>
          </a:xfrm>
          <a:prstGeom prst="rect">
            <a:avLst/>
          </a:prstGeom>
          <a:solidFill>
            <a:srgbClr val="EFF4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9544" y="3721608"/>
            <a:ext cx="288950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Evidence + confidence display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621024"/>
            <a:ext cx="2834640" cy="630936"/>
          </a:xfrm>
          <a:prstGeom prst="rect">
            <a:avLst/>
          </a:prstGeom>
          <a:solidFill>
            <a:srgbClr val="EFF4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6792" y="3721608"/>
            <a:ext cx="268833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Makes the diagnosis explainable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261104"/>
            <a:ext cx="2514600" cy="630936"/>
          </a:xfrm>
          <a:prstGeom prst="rect">
            <a:avLst/>
          </a:prstGeom>
          <a:solidFill>
            <a:srgbClr val="FFFF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4361688"/>
            <a:ext cx="23682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70" b="1">
                <a:solidFill>
                  <a:srgbClr val="141414"/>
                </a:solidFill>
                <a:latin typeface="Aptos"/>
              </a:rPr>
              <a:t>Generic advice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36392" y="4261104"/>
            <a:ext cx="3035808" cy="630936"/>
          </a:xfrm>
          <a:prstGeom prst="rect">
            <a:avLst/>
          </a:prstGeom>
          <a:solidFill>
            <a:srgbClr val="FFFF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9544" y="4361688"/>
            <a:ext cx="288950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70" b="1">
                <a:solidFill>
                  <a:srgbClr val="141414"/>
                </a:solidFill>
                <a:latin typeface="Aptos"/>
              </a:rPr>
              <a:t>Ranked, safe recommendations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4261104"/>
            <a:ext cx="2834640" cy="630936"/>
          </a:xfrm>
          <a:prstGeom prst="rect">
            <a:avLst/>
          </a:prstGeom>
          <a:solidFill>
            <a:srgbClr val="FFFF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6792" y="4361688"/>
            <a:ext cx="268833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70" b="1">
                <a:solidFill>
                  <a:srgbClr val="141414"/>
                </a:solidFill>
                <a:latin typeface="Aptos"/>
              </a:rPr>
              <a:t>Reduces unnecessary resets and support calls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23960" y="91440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20" b="1">
                <a:solidFill>
                  <a:srgbClr val="0000D2"/>
                </a:solidFill>
                <a:latin typeface="Aptos"/>
              </a:rPr>
              <a:t>AIORI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91440"/>
            <a:ext cx="21488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1">
                <a:solidFill>
                  <a:srgbClr val="0000D2"/>
                </a:solidFill>
                <a:latin typeface="Aptos"/>
              </a:rPr>
              <a:t>Architecture Design (UML Diagram)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" y="530352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0000D2"/>
                </a:solidFill>
                <a:latin typeface="Aptos"/>
              </a:rPr>
              <a:t>Solution Architecture &amp;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6629400"/>
            <a:ext cx="585216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0000D2"/>
                </a:solidFill>
                <a:latin typeface="Aptos"/>
              </a:rPr>
              <a:t>Home Connectivity Diagnosis  •  October 14,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629400"/>
            <a:ext cx="59436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00" b="0">
                <a:solidFill>
                  <a:srgbClr val="0000D2"/>
                </a:solidFill>
                <a:latin typeface="Aptos"/>
              </a:rPr>
              <a:t>7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07592"/>
            <a:ext cx="10972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1414"/>
                </a:solidFill>
                <a:latin typeface="Aptos"/>
              </a:rPr>
              <a:t>Component 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121408"/>
            <a:ext cx="1645920" cy="749808"/>
          </a:xfrm>
          <a:prstGeom prst="roundRect">
            <a:avLst/>
          </a:prstGeom>
          <a:solidFill>
            <a:srgbClr val="EFF4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194560"/>
            <a:ext cx="1517904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87"/>
                </a:solidFill>
                <a:latin typeface="Aptos"/>
              </a:rPr>
              <a:t>User App
Web / Mobile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2121408"/>
            <a:ext cx="1645920" cy="749808"/>
          </a:xfrm>
          <a:prstGeom prst="roundRect">
            <a:avLst/>
          </a:prstGeom>
          <a:solidFill>
            <a:srgbClr val="EFF4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2194560"/>
            <a:ext cx="1517904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87"/>
                </a:solidFill>
                <a:latin typeface="Aptos"/>
              </a:rPr>
              <a:t>Measurement
Collector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58384" y="2121408"/>
            <a:ext cx="1645920" cy="749808"/>
          </a:xfrm>
          <a:prstGeom prst="roundRect">
            <a:avLst/>
          </a:prstGeom>
          <a:solidFill>
            <a:srgbClr val="EFF4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22392" y="2194560"/>
            <a:ext cx="1517904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87"/>
                </a:solidFill>
                <a:latin typeface="Aptos"/>
              </a:rPr>
              <a:t>Feature
Extractor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35824" y="2121408"/>
            <a:ext cx="1645920" cy="749808"/>
          </a:xfrm>
          <a:prstGeom prst="roundRect">
            <a:avLst/>
          </a:prstGeom>
          <a:solidFill>
            <a:srgbClr val="EFF4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9832" y="2194560"/>
            <a:ext cx="1517904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87"/>
                </a:solidFill>
                <a:latin typeface="Aptos"/>
              </a:rPr>
              <a:t>Diagnosis
Engine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04120" y="2121408"/>
            <a:ext cx="1554480" cy="749808"/>
          </a:xfrm>
          <a:prstGeom prst="roundRect">
            <a:avLst/>
          </a:prstGeom>
          <a:solidFill>
            <a:srgbClr val="EFF4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68128" y="2194560"/>
            <a:ext cx="1426464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87"/>
                </a:solidFill>
                <a:latin typeface="Aptos"/>
              </a:rPr>
              <a:t>Explanation &amp;
Recommendation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267712" y="2496312"/>
            <a:ext cx="640079" cy="0"/>
          </a:xfrm>
          <a:prstGeom prst="line">
            <a:avLst/>
          </a:prstGeom>
          <a:ln w="19050">
            <a:solidFill>
              <a:srgbClr val="000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45152" y="2496312"/>
            <a:ext cx="640080" cy="0"/>
          </a:xfrm>
          <a:prstGeom prst="line">
            <a:avLst/>
          </a:prstGeom>
          <a:ln w="19050">
            <a:solidFill>
              <a:srgbClr val="000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031736" y="2496312"/>
            <a:ext cx="640080" cy="0"/>
          </a:xfrm>
          <a:prstGeom prst="line">
            <a:avLst/>
          </a:prstGeom>
          <a:ln w="19050">
            <a:solidFill>
              <a:srgbClr val="000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400032" y="2496312"/>
            <a:ext cx="640079" cy="0"/>
          </a:xfrm>
          <a:prstGeom prst="line">
            <a:avLst/>
          </a:prstGeom>
          <a:ln w="19050">
            <a:solidFill>
              <a:srgbClr val="000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754880" y="3913632"/>
            <a:ext cx="2194560" cy="658368"/>
          </a:xfrm>
          <a:prstGeom prst="roundRect">
            <a:avLst/>
          </a:prstGeom>
          <a:solidFill>
            <a:srgbClr val="F2F2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18888" y="3986784"/>
            <a:ext cx="2066543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00087"/>
                </a:solidFill>
                <a:latin typeface="Aptos"/>
              </a:rPr>
              <a:t>Metrics Store
(time-series history)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5541264" y="2907792"/>
            <a:ext cx="448056" cy="1005840"/>
          </a:xfrm>
          <a:prstGeom prst="line">
            <a:avLst/>
          </a:prstGeom>
          <a:ln w="19050">
            <a:solidFill>
              <a:srgbClr val="000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400800" y="2907792"/>
            <a:ext cx="1965960" cy="1005840"/>
          </a:xfrm>
          <a:prstGeom prst="line">
            <a:avLst/>
          </a:prstGeom>
          <a:ln w="19050">
            <a:solidFill>
              <a:srgbClr val="000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68680" y="5102352"/>
            <a:ext cx="10424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525252"/>
                </a:solidFill>
                <a:latin typeface="Aptos"/>
              </a:rPr>
              <a:t>Inputs: latency, jitter, packet loss, download/upload, signal strength, test history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89320"/>
            <a:ext cx="5303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ptos"/>
              </a:rPr>
              <a:t>Figure: Explainable Connectivity Diagnosis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23960" y="91440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20" b="1">
                <a:solidFill>
                  <a:srgbClr val="0000D2"/>
                </a:solidFill>
                <a:latin typeface="Aptos"/>
              </a:rPr>
              <a:t>AIORI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91440"/>
            <a:ext cx="21488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1">
                <a:solidFill>
                  <a:srgbClr val="0000D2"/>
                </a:solidFill>
                <a:latin typeface="Aptos"/>
              </a:rPr>
              <a:t>Data Flow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" y="530352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0000D2"/>
                </a:solidFill>
                <a:latin typeface="Aptos"/>
              </a:rPr>
              <a:t>Data Flow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6629400"/>
            <a:ext cx="585216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0000D2"/>
                </a:solidFill>
                <a:latin typeface="Aptos"/>
              </a:rPr>
              <a:t>Home Connectivity Diagnosis  •  October 14,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629400"/>
            <a:ext cx="59436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00" b="0">
                <a:solidFill>
                  <a:srgbClr val="0000D2"/>
                </a:solidFill>
                <a:latin typeface="Aptos"/>
              </a:rPr>
              <a:t>8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07592"/>
            <a:ext cx="10972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1414"/>
                </a:solidFill>
                <a:latin typeface="Aptos"/>
              </a:rPr>
              <a:t>Data flow from a connectivity test to a user decision.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40280"/>
            <a:ext cx="1508760" cy="685800"/>
          </a:xfrm>
          <a:prstGeom prst="roundRect">
            <a:avLst/>
          </a:prstGeom>
          <a:solidFill>
            <a:srgbClr val="EFF4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313432"/>
            <a:ext cx="1380743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87"/>
                </a:solidFill>
                <a:latin typeface="Aptos"/>
              </a:rPr>
              <a:t>User
starts 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2240280"/>
            <a:ext cx="1965960" cy="685800"/>
          </a:xfrm>
          <a:prstGeom prst="roundRect">
            <a:avLst/>
          </a:prstGeom>
          <a:solidFill>
            <a:srgbClr val="EFF4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2313432"/>
            <a:ext cx="1837943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87"/>
                </a:solidFill>
                <a:latin typeface="Aptos"/>
              </a:rPr>
              <a:t>Collect local +
network metrics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2240280"/>
            <a:ext cx="1965960" cy="685800"/>
          </a:xfrm>
          <a:prstGeom prst="roundRect">
            <a:avLst/>
          </a:prstGeom>
          <a:solidFill>
            <a:srgbClr val="EFF4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24728" y="2313432"/>
            <a:ext cx="1837943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87"/>
                </a:solidFill>
                <a:latin typeface="Aptos"/>
              </a:rPr>
              <a:t>Normalize &amp;
validate readings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2240280"/>
            <a:ext cx="1645920" cy="685800"/>
          </a:xfrm>
          <a:prstGeom prst="roundRect">
            <a:avLst/>
          </a:prstGeom>
          <a:solidFill>
            <a:srgbClr val="EFF4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13648" y="2313432"/>
            <a:ext cx="151790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87"/>
                </a:solidFill>
                <a:latin typeface="Aptos"/>
              </a:rPr>
              <a:t>Infer likely
root cause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2240280"/>
            <a:ext cx="1005840" cy="685800"/>
          </a:xfrm>
          <a:prstGeom prst="roundRect">
            <a:avLst/>
          </a:prstGeom>
          <a:solidFill>
            <a:srgbClr val="E1E8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99648" y="2313432"/>
            <a:ext cx="877824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00087"/>
                </a:solidFill>
                <a:latin typeface="Aptos"/>
              </a:rPr>
              <a:t>Explain +
recommend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76272" y="2578608"/>
            <a:ext cx="749808" cy="0"/>
          </a:xfrm>
          <a:prstGeom prst="line">
            <a:avLst/>
          </a:prstGeom>
          <a:ln w="19050">
            <a:solidFill>
              <a:srgbClr val="000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965192" y="2578608"/>
            <a:ext cx="749808" cy="0"/>
          </a:xfrm>
          <a:prstGeom prst="line">
            <a:avLst/>
          </a:prstGeom>
          <a:ln w="19050">
            <a:solidFill>
              <a:srgbClr val="000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754112" y="2578608"/>
            <a:ext cx="749808" cy="0"/>
          </a:xfrm>
          <a:prstGeom prst="line">
            <a:avLst/>
          </a:prstGeom>
          <a:ln w="19050">
            <a:solidFill>
              <a:srgbClr val="000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222992" y="2578608"/>
            <a:ext cx="566928" cy="0"/>
          </a:xfrm>
          <a:prstGeom prst="line">
            <a:avLst/>
          </a:prstGeom>
          <a:ln w="19050">
            <a:solidFill>
              <a:srgbClr val="000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937760" y="3977639"/>
            <a:ext cx="2194560" cy="658368"/>
          </a:xfrm>
          <a:prstGeom prst="roundRect">
            <a:avLst/>
          </a:prstGeom>
          <a:solidFill>
            <a:srgbClr val="F2F2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1768" y="4050791"/>
            <a:ext cx="2066543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00087"/>
                </a:solidFill>
                <a:latin typeface="Aptos"/>
              </a:rPr>
              <a:t>Diagnostic history /
baseline profile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6035040" y="2971800"/>
            <a:ext cx="502920" cy="1005839"/>
          </a:xfrm>
          <a:prstGeom prst="line">
            <a:avLst/>
          </a:prstGeom>
          <a:ln w="19050">
            <a:solidFill>
              <a:srgbClr val="000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49808" y="5166360"/>
            <a:ext cx="10698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25252"/>
                </a:solidFill>
                <a:latin typeface="Aptos"/>
              </a:rPr>
              <a:t>Output includes: likely cause • supporting evidence • confidence • next-best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989320"/>
            <a:ext cx="36576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ptos"/>
              </a:rPr>
              <a:t>Figure: Data Flow Diagram (DFD)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23960" y="91440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20" b="1">
                <a:solidFill>
                  <a:srgbClr val="0000D2"/>
                </a:solidFill>
                <a:latin typeface="Aptos"/>
              </a:rPr>
              <a:t>AIORI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91440"/>
            <a:ext cx="21488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1">
                <a:solidFill>
                  <a:srgbClr val="0000D2"/>
                </a:solidFill>
                <a:latin typeface="Aptos"/>
              </a:rPr>
              <a:t>Deployment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" y="530352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0000D2"/>
                </a:solidFill>
                <a:latin typeface="Aptos"/>
              </a:rPr>
              <a:t>Deployment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6629400"/>
            <a:ext cx="585216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0000D2"/>
                </a:solidFill>
                <a:latin typeface="Aptos"/>
              </a:rPr>
              <a:t>Home Connectivity Diagnosis  •  October 14,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629400"/>
            <a:ext cx="59436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00" b="0">
                <a:solidFill>
                  <a:srgbClr val="0000D2"/>
                </a:solidFill>
                <a:latin typeface="Aptos"/>
              </a:rPr>
              <a:t>9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1414"/>
                </a:solidFill>
                <a:latin typeface="Aptos"/>
              </a:rPr>
              <a:t>Phased delivery keeps the system measurable, safe, and useful.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84831"/>
            <a:ext cx="2331720" cy="2121408"/>
          </a:xfrm>
          <a:prstGeom prst="roundRect">
            <a:avLst/>
          </a:prstGeom>
          <a:solidFill>
            <a:srgbClr val="EFF4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2057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0000D2"/>
                </a:solidFill>
                <a:latin typeface="Aptos"/>
              </a:rP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15768"/>
            <a:ext cx="2057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25252"/>
                </a:solidFill>
                <a:latin typeface="Aptos"/>
              </a:rPr>
              <a:t>Weeks 1–2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3127248"/>
            <a:ext cx="19933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Define metrics, test cases, and baseline rules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90087" y="3145536"/>
            <a:ext cx="420624" cy="0"/>
          </a:xfrm>
          <a:prstGeom prst="line">
            <a:avLst/>
          </a:prstGeom>
          <a:ln w="19050">
            <a:solidFill>
              <a:srgbClr val="000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74720" y="2084831"/>
            <a:ext cx="2331720" cy="2121408"/>
          </a:xfrm>
          <a:prstGeom prst="roundRect">
            <a:avLst/>
          </a:prstGeom>
          <a:solidFill>
            <a:srgbClr val="EFF4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79" y="2331720"/>
            <a:ext cx="2057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0000D2"/>
                </a:solidFill>
                <a:latin typeface="Aptos"/>
              </a:rP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79" y="2715768"/>
            <a:ext cx="2057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25252"/>
                </a:solidFill>
                <a:latin typeface="Aptos"/>
              </a:rPr>
              <a:t>Weeks 3–4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3127248"/>
            <a:ext cx="19933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Build collector, test runner, and data pipeline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24727" y="3145536"/>
            <a:ext cx="420625" cy="0"/>
          </a:xfrm>
          <a:prstGeom prst="line">
            <a:avLst/>
          </a:prstGeom>
          <a:ln w="19050">
            <a:solidFill>
              <a:srgbClr val="000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09360" y="2084831"/>
            <a:ext cx="2331720" cy="2121408"/>
          </a:xfrm>
          <a:prstGeom prst="roundRect">
            <a:avLst/>
          </a:prstGeom>
          <a:solidFill>
            <a:srgbClr val="EFF4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331720"/>
            <a:ext cx="2057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0000D2"/>
                </a:solidFill>
                <a:latin typeface="Aptos"/>
              </a:rPr>
              <a:t>Phase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715768"/>
            <a:ext cx="2057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25252"/>
                </a:solidFill>
                <a:latin typeface="Aptos"/>
              </a:rPr>
              <a:t>Weeks 5–6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127248"/>
            <a:ext cx="19933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Train/tune diagnosis logic and explanation layer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59368" y="3145536"/>
            <a:ext cx="420624" cy="0"/>
          </a:xfrm>
          <a:prstGeom prst="line">
            <a:avLst/>
          </a:prstGeom>
          <a:ln w="19050">
            <a:solidFill>
              <a:srgbClr val="000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44000" y="2084831"/>
            <a:ext cx="2331720" cy="2121408"/>
          </a:xfrm>
          <a:prstGeom prst="roundRect">
            <a:avLst/>
          </a:prstGeom>
          <a:solidFill>
            <a:srgbClr val="EFF4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2331720"/>
            <a:ext cx="2057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0000D2"/>
                </a:solidFill>
                <a:latin typeface="Aptos"/>
              </a:rPr>
              <a:t>Phase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715768"/>
            <a:ext cx="2057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25252"/>
                </a:solidFill>
                <a:latin typeface="Aptos"/>
              </a:rPr>
              <a:t>Weeks 7–8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592" y="3127248"/>
            <a:ext cx="19933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Pilot, validate recommendations, and iterate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56632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25252"/>
                </a:solidFill>
                <a:latin typeface="Aptos"/>
              </a:rPr>
              <a:t>Success measures: diagnosis accuracy • explanation usefulness • recommendation completion • reduced unnecessary support contacts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23960" y="91440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20" b="1">
                <a:solidFill>
                  <a:srgbClr val="0000D2"/>
                </a:solidFill>
                <a:latin typeface="Aptos"/>
              </a:rPr>
              <a:t>AIORI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91440"/>
            <a:ext cx="21488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1">
                <a:solidFill>
                  <a:srgbClr val="0000D2"/>
                </a:solidFill>
                <a:latin typeface="Aptos"/>
              </a:rPr>
              <a:t>Bibliography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" y="530352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0000D2"/>
                </a:solidFill>
                <a:latin typeface="Aptos"/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6629400"/>
            <a:ext cx="585216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0000D2"/>
                </a:solidFill>
                <a:latin typeface="Aptos"/>
              </a:rPr>
              <a:t>Home Connectivity Diagnosis  •  October 14,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629400"/>
            <a:ext cx="59436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00" b="0">
                <a:solidFill>
                  <a:srgbClr val="0000D2"/>
                </a:solidFill>
                <a:latin typeface="Aptos"/>
              </a:rPr>
              <a:t>10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1414"/>
                </a:solidFill>
                <a:latin typeface="Aptos"/>
              </a:rPr>
              <a:t>Selected references supporting network measurement concepts.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03120"/>
            <a:ext cx="10652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  <a:latin typeface="Aptos"/>
              </a:rPr>
              <a:t>[1] IETF RFC 6349. Framework for TCP Throughput Testing. August 2011.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761487"/>
            <a:ext cx="10652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  <a:latin typeface="Aptos"/>
              </a:rPr>
              <a:t>[2] IETF RFC 2681. A Round-trip Delay Metric for IPPM. September 1999.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419856"/>
            <a:ext cx="10652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  <a:latin typeface="Aptos"/>
              </a:rPr>
              <a:t>[3] IETF RFC 3393. IP Packet Delay Variation Metric for IPPM. November 2002.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078224"/>
            <a:ext cx="10652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  <a:latin typeface="Aptos"/>
              </a:rPr>
              <a:t>[4] ITU-T Recommendation Y.1540. Internet protocol data communication service — IP packet transfer and availability performance parameters.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23960" y="91440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20" b="1">
                <a:solidFill>
                  <a:srgbClr val="0000D2"/>
                </a:solidFill>
                <a:latin typeface="Aptos"/>
              </a:rPr>
              <a:t>AIORI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91440"/>
            <a:ext cx="21488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1">
                <a:solidFill>
                  <a:srgbClr val="0000D2"/>
                </a:solidFill>
                <a:latin typeface="Aptos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0574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0000D2"/>
                </a:solidFill>
                <a:latin typeface="Apto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7442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41414"/>
                </a:solidFill>
                <a:latin typeface="Aptos"/>
              </a:rPr>
              <a:t>Making home connectivity problems understandable,
explainable, and easier to resolve.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7091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00087"/>
                </a:solidFill>
                <a:latin typeface="Aptos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